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B41A"/>
                </a:solidFill>
                <a:latin typeface="Calibri"/>
              </a:rPr>
              <a:t>PORTOFOLIO ANALISIS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6035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Calibri"/>
              </a:rPr>
              <a:t>Pariwisata</a:t>
            </a:r>
          </a:p>
          <a:p>
            <a:pPr algn="l"/>
            <a:r>
              <a:rPr sz="4700" b="1">
                <a:solidFill>
                  <a:srgbClr val="FFFFFF"/>
                </a:solidFill>
                <a:latin typeface="Calibri"/>
              </a:rPr>
              <a:t>Indonesia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5760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9EFF3"/>
                </a:solidFill>
                <a:latin typeface="Calibri"/>
              </a:rPr>
              <a:t>Kolaps pandemi, tangga pemulihan, dan dominasi Bali:</a:t>
            </a:r>
          </a:p>
          <a:p>
            <a:pPr algn="l"/>
            <a:r>
              <a:rPr sz="1500" b="0">
                <a:solidFill>
                  <a:srgbClr val="E9EFF3"/>
                </a:solidFill>
                <a:latin typeface="Calibri"/>
              </a:rPr>
              <a:t>membaca ulang arus wisatawan dari data resmi BPS.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160520"/>
            <a:ext cx="5669280" cy="32004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9EFF3"/>
                </a:solidFill>
                <a:latin typeface="Calibri"/>
              </a:rPr>
              <a:t>Disusun oleh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BAGHIZ ASSHIDDIQIE ARASYA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9EFF3"/>
                </a:solidFill>
                <a:latin typeface="Calibri"/>
              </a:rPr>
              <a:t>Data Analyst • Python, SQL, 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77724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A97A5"/>
                </a:solidFill>
                <a:latin typeface="Calibri"/>
              </a:rPr>
              <a:t>ANGKA UTAMA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143000"/>
            <a:ext cx="4480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0" b="1">
                <a:solidFill>
                  <a:srgbClr val="0B3C5D"/>
                </a:solidFill>
                <a:latin typeface="Calibri"/>
              </a:rPr>
              <a:t>15,39 jt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0312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22303C"/>
                </a:solidFill>
                <a:latin typeface="Calibri"/>
              </a:rPr>
              <a:t>kunjungan wisman setahun penuh,</a:t>
            </a:r>
          </a:p>
          <a:p>
            <a:pPr algn="l"/>
            <a:r>
              <a:rPr sz="1350" b="0">
                <a:solidFill>
                  <a:srgbClr val="22303C"/>
                </a:solidFill>
                <a:latin typeface="Calibri"/>
              </a:rPr>
              <a:t>naik 10,80% dari 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880360"/>
            <a:ext cx="4114800" cy="27432"/>
          </a:xfrm>
          <a:prstGeom prst="rect">
            <a:avLst/>
          </a:prstGeom>
          <a:solidFill>
            <a:srgbClr val="E9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06324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D7263D"/>
                </a:solidFill>
                <a:latin typeface="Calibri"/>
              </a:rPr>
              <a:t>95,5%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70332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303C"/>
                </a:solidFill>
                <a:latin typeface="Calibri"/>
              </a:rPr>
              <a:t>tingkat pemulihan terhadap 2019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4251960"/>
            <a:ext cx="4114800" cy="27432"/>
          </a:xfrm>
          <a:prstGeom prst="rect">
            <a:avLst/>
          </a:prstGeom>
          <a:solidFill>
            <a:srgbClr val="E9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43484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Calibri"/>
              </a:rPr>
              <a:t>1,20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07492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2303C"/>
                </a:solidFill>
                <a:latin typeface="Calibri"/>
              </a:rPr>
              <a:t>perjalanan wisnus sepanjang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98932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7A5"/>
                </a:solidFill>
                <a:latin typeface="Calibri"/>
              </a:rPr>
              <a:t>Periode data: 2019 – Agustus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B41A"/>
                </a:solidFill>
                <a:latin typeface="Calibri"/>
              </a:rPr>
              <a:t>RINGKASAN EKSEKUTIF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2025: Tahun Terakhir Sebelum Garis 2019 Terlampaui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4B41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8A97A5"/>
                </a:solidFill>
                <a:latin typeface="Calibri"/>
              </a:rPr>
              <a:t>Pariwisata Indonesia 2026 • Sumber data: BPS (BRS &amp; Statistik Kunjungan Wisman)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269748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E7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27101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A97A5"/>
                </a:solidFill>
                <a:latin typeface="Calibri"/>
              </a:rPr>
              <a:t>WISMAN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1490472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B3C5D"/>
                </a:solidFill>
                <a:latin typeface="Calibri"/>
              </a:rPr>
              <a:t>15,39 jt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975104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303C"/>
                </a:solidFill>
                <a:latin typeface="Calibri"/>
              </a:rPr>
              <a:t>+10,80% vs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188720"/>
            <a:ext cx="269748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E7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27101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A97A5"/>
                </a:solidFill>
                <a:latin typeface="Calibri"/>
              </a:rPr>
              <a:t>PEMULIHAN vs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490472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D7263D"/>
                </a:solidFill>
                <a:latin typeface="Calibri"/>
              </a:rPr>
              <a:t>95,5%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1975104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303C"/>
                </a:solidFill>
                <a:latin typeface="Calibri"/>
              </a:rPr>
              <a:t>dari 16,11 jt (2019)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188720"/>
            <a:ext cx="269748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E7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27101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A97A5"/>
                </a:solidFill>
                <a:latin typeface="Calibri"/>
              </a:rPr>
              <a:t>WISMAN JAN–AGU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1490472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B3C5D"/>
                </a:solidFill>
                <a:latin typeface="Calibri"/>
              </a:rPr>
              <a:t>10,58 jt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1975104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303C"/>
                </a:solidFill>
                <a:latin typeface="Calibri"/>
              </a:rPr>
              <a:t>98,7% dari periode sama 2019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188720"/>
            <a:ext cx="269748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E7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1271016"/>
            <a:ext cx="24231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A97A5"/>
                </a:solidFill>
                <a:latin typeface="Calibri"/>
              </a:rPr>
              <a:t>TPK BINTANG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1490472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B3C5D"/>
                </a:solidFill>
                <a:latin typeface="Calibri"/>
              </a:rPr>
              <a:t>49,30%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1975104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2303C"/>
                </a:solidFill>
                <a:latin typeface="Calibri"/>
              </a:rPr>
              <a:t>turun 3,27 poin vs 2024</a:t>
            </a:r>
          </a:p>
        </p:txBody>
      </p:sp>
      <p:pic>
        <p:nvPicPr>
          <p:cNvPr id="24" name="Picture 23" descr="01_tren_tahu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87168"/>
            <a:ext cx="6903720" cy="340254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726679" y="2674620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1" y="2606040"/>
            <a:ext cx="372160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Nyaris pulih sepenuhnya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1" y="2880360"/>
            <a:ext cx="3721607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303C"/>
                </a:solidFill>
                <a:latin typeface="Calibri"/>
              </a:rPr>
              <a:t>2025 mencapai 15,39 juta kunjungan; Jan–Agu 2026 sudah 98,7% dari periode sama 2019.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3461004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82711" y="3392424"/>
            <a:ext cx="372160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Mesin domestik jauh lebih besar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2711" y="3666744"/>
            <a:ext cx="3721607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303C"/>
                </a:solidFill>
                <a:latin typeface="Calibri"/>
              </a:rPr>
              <a:t>Perjalanan wisnus 2025 = 1,20 miliar, atau 78 kali kunjungan wisman.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4247388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82711" y="4178808"/>
            <a:ext cx="372160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3C5D"/>
                </a:solidFill>
                <a:latin typeface="Calibri"/>
              </a:rPr>
              <a:t>Satu catatan kaki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2711" y="4453128"/>
            <a:ext cx="3721607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303C"/>
                </a:solidFill>
                <a:latin typeface="Calibri"/>
              </a:rPr>
              <a:t>TPK hotel bintang justru turun ke 49,30% — kamar bertambah lebih cepat daripada tamu.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B41A"/>
                </a:solidFill>
                <a:latin typeface="Calibri"/>
              </a:rPr>
              <a:t>TEMUAN 1 • KOLAPS &amp; PEMULIHAN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Dari 16,11 Juta ke 1,56 Juta, Lalu Naik Lagi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4B41A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8A97A5"/>
                </a:solidFill>
                <a:latin typeface="Calibri"/>
              </a:rPr>
              <a:t>Pariwisata Indonesia 2026 • Sumber data: BPS (BRS &amp; Statistik Kunjungan Wisman)</a:t>
            </a:r>
          </a:p>
        </p:txBody>
      </p:sp>
      <p:pic>
        <p:nvPicPr>
          <p:cNvPr id="8" name="Picture 7" descr="02_kurva_pemulih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806440" cy="2745037"/>
          </a:xfrm>
          <a:prstGeom prst="rect">
            <a:avLst/>
          </a:prstGeom>
        </p:spPr>
      </p:pic>
      <p:pic>
        <p:nvPicPr>
          <p:cNvPr id="9" name="Picture 8" descr="03_bulanan_2019_2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88720"/>
            <a:ext cx="5212080" cy="24633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4777740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709160"/>
            <a:ext cx="10945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3C5D"/>
                </a:solidFill>
                <a:latin typeface="Calibri"/>
              </a:rPr>
              <a:t>Titik terendah 2021: 9,7% dari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983480"/>
            <a:ext cx="10945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03C"/>
                </a:solidFill>
                <a:latin typeface="Calibri"/>
              </a:rPr>
              <a:t>Kunjungan anjlok 74,84% pada 2020 dan 61,57% lagi pada 2021 — total hilang 14,55 juta kunjungan dari baseline.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564124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495544"/>
            <a:ext cx="10945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3C5D"/>
                </a:solidFill>
                <a:latin typeface="Calibri"/>
              </a:rPr>
              <a:t>Pemulihan berbentuk tangga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769864"/>
            <a:ext cx="10945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03C"/>
                </a:solidFill>
                <a:latin typeface="Calibri"/>
              </a:rPr>
              <a:t>2022 = 36,6%, 2023 = 72,5%, 2024 = 86,2%, 2025 = 95,5%. Tidak ada satu tahun pun yang mundur.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B41A"/>
                </a:solidFill>
                <a:latin typeface="Calibri"/>
              </a:rPr>
              <a:t>TEMUAN 2 • MUSIMAN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Agustus Selalu Jadi Puncak; Awal Tahun Selalu Sepi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4B41A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8A97A5"/>
                </a:solidFill>
                <a:latin typeface="Calibri"/>
              </a:rPr>
              <a:t>Pariwisata Indonesia 2026 • Sumber data: BPS (BRS &amp; Statistik Kunjungan Wisman)</a:t>
            </a:r>
          </a:p>
        </p:txBody>
      </p:sp>
      <p:pic>
        <p:nvPicPr>
          <p:cNvPr id="8" name="Picture 7" descr="05_indeks_musi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623560" cy="2525810"/>
          </a:xfrm>
          <a:prstGeom prst="rect">
            <a:avLst/>
          </a:prstGeom>
        </p:spPr>
      </p:pic>
      <p:pic>
        <p:nvPicPr>
          <p:cNvPr id="9" name="Picture 8" descr="04_bulanan_2026_vs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394960" cy="26026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4686300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617720"/>
            <a:ext cx="10945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3C5D"/>
                </a:solidFill>
                <a:latin typeface="Calibri"/>
              </a:rPr>
              <a:t>Indeks Agustus 115, Februari 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4892040"/>
            <a:ext cx="10945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03C"/>
                </a:solidFill>
                <a:latin typeface="Calibri"/>
              </a:rPr>
              <a:t>Pola dari rata-rata 2019 &amp; 2023: semester dua konsisten lebih ramai; Maret 2026 jadi lembah tahun berjalan (1,09 jt) karena Ramadan.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472684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404104"/>
            <a:ext cx="10945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3C5D"/>
                </a:solidFill>
                <a:latin typeface="Calibri"/>
              </a:rPr>
              <a:t>2026 menguat di musim puncak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678424"/>
            <a:ext cx="10945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03C"/>
                </a:solidFill>
                <a:latin typeface="Calibri"/>
              </a:rPr>
              <a:t>Agustus 2026 = 1,60 juta kunjungan, tertinggi sepanjang 2026 dan naik 6,27% dari Agustus 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B41A"/>
                </a:solidFill>
                <a:latin typeface="Calibri"/>
              </a:rPr>
              <a:t>TEMUAN 3 • PINTU MASUK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Satu Bandara Menampung 44,9% Tamu Asing Indonesia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4B41A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8A97A5"/>
                </a:solidFill>
                <a:latin typeface="Calibri"/>
              </a:rPr>
              <a:t>Pariwisata Indonesia 2026 • Sumber data: BPS (BRS &amp; Statistik Kunjungan Wisman)</a:t>
            </a:r>
          </a:p>
        </p:txBody>
      </p:sp>
      <p:pic>
        <p:nvPicPr>
          <p:cNvPr id="8" name="Picture 7" descr="06_pintu_masuk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2871225"/>
          </a:xfrm>
          <a:prstGeom prst="rect">
            <a:avLst/>
          </a:prstGeom>
        </p:spPr>
      </p:pic>
      <p:pic>
        <p:nvPicPr>
          <p:cNvPr id="9" name="Picture 8" descr="07_komposisi_pintu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25880"/>
            <a:ext cx="3931920" cy="30006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5143500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5074920"/>
            <a:ext cx="10945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3C5D"/>
                </a:solidFill>
                <a:latin typeface="Calibri"/>
              </a:rPr>
              <a:t>Konsentrasi sangat tinggi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349240"/>
            <a:ext cx="10945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03C"/>
                </a:solidFill>
                <a:latin typeface="Calibri"/>
              </a:rPr>
              <a:t>Ngurah Rai (6,91 jt) + Soekarno-Hatta (2,76 jt) = 62,8% dari seluruh kunjungan 2025; enam gerbang utama menampung 78,9%.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29884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861304"/>
            <a:ext cx="10945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3C5D"/>
                </a:solidFill>
                <a:latin typeface="Calibri"/>
              </a:rPr>
              <a:t>Jalur laut Kepri adalah gerbang ketiga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6135624"/>
            <a:ext cx="10945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03C"/>
                </a:solidFill>
                <a:latin typeface="Calibri"/>
              </a:rPr>
              <a:t>Batam mencatat 1,59 juta kunjungan (10,4%), digerakkan pasar Singapura &amp; Malaysia jarak pendek.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B41A"/>
                </a:solidFill>
                <a:latin typeface="Calibri"/>
              </a:rPr>
              <a:t>TEMUAN 4 • KEBANGSAAN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Australia Sudah Lampaui 2019; Tiongkok Baru 38%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4B41A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8A97A5"/>
                </a:solidFill>
                <a:latin typeface="Calibri"/>
              </a:rPr>
              <a:t>Pariwisata Indonesia 2026 • Sumber data: BPS (BRS &amp; Statistik Kunjungan Wisman)</a:t>
            </a:r>
          </a:p>
        </p:txBody>
      </p:sp>
      <p:pic>
        <p:nvPicPr>
          <p:cNvPr id="8" name="Picture 7" descr="08_kebangsaan_2019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897880" cy="2971136"/>
          </a:xfrm>
          <a:prstGeom prst="rect">
            <a:avLst/>
          </a:prstGeom>
        </p:spPr>
      </p:pic>
      <p:pic>
        <p:nvPicPr>
          <p:cNvPr id="9" name="Picture 8" descr="09_kebangsaan_agu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188720"/>
            <a:ext cx="5074920" cy="245362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4914900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4846320"/>
            <a:ext cx="10945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3C5D"/>
                </a:solidFill>
                <a:latin typeface="Calibri"/>
              </a:rPr>
              <a:t>Pemulihan tidak merata antar pasar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120640"/>
            <a:ext cx="10945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03C"/>
                </a:solidFill>
                <a:latin typeface="Calibri"/>
              </a:rPr>
              <a:t>Pada 2023 Australia mencapai 103,2% dari level 2019, India 92,3%, sedangkan Tiongkok baru 38,0% dan Jepang 48,5%.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01284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632704"/>
            <a:ext cx="10945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3C5D"/>
                </a:solidFill>
                <a:latin typeface="Calibri"/>
              </a:rPr>
              <a:t>ASEAN menguat lagi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907024"/>
            <a:ext cx="10945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03C"/>
                </a:solidFill>
                <a:latin typeface="Calibri"/>
              </a:rPr>
              <a:t>Pangsa ASEAN naik dari 36,4% (2023) ke 41,3% (2025); Malaysia tetap nomor satu (17,2% pada 2025; 18,5% pada Agu 2026).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B41A"/>
                </a:solidFill>
                <a:latin typeface="Calibri"/>
              </a:rPr>
              <a:t>TEMUAN 5 • HOTEL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Bali Paling Penuh, tetapi TPK Nasional Justru Turun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4B41A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8A97A5"/>
                </a:solidFill>
                <a:latin typeface="Calibri"/>
              </a:rPr>
              <a:t>Pariwisata Indonesia 2026 • Sumber data: BPS (BRS &amp; Statistik Kunjungan Wisman)</a:t>
            </a:r>
          </a:p>
        </p:txBody>
      </p:sp>
      <p:pic>
        <p:nvPicPr>
          <p:cNvPr id="8" name="Picture 7" descr="10_tpk_provinsi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989320" cy="3407272"/>
          </a:xfrm>
          <a:prstGeom prst="rect">
            <a:avLst/>
          </a:prstGeom>
        </p:spPr>
      </p:pic>
      <p:pic>
        <p:nvPicPr>
          <p:cNvPr id="9" name="Picture 8" descr="11_tpk_tren_dan_ba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170432"/>
            <a:ext cx="5029200" cy="2219878"/>
          </a:xfrm>
          <a:prstGeom prst="rect">
            <a:avLst/>
          </a:prstGeom>
        </p:spPr>
      </p:pic>
      <p:pic>
        <p:nvPicPr>
          <p:cNvPr id="10" name="Picture 9" descr="14_rlm_tam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794760"/>
            <a:ext cx="5029200" cy="242210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5600700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5532120"/>
            <a:ext cx="58704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3C5D"/>
                </a:solidFill>
                <a:latin typeface="Calibri"/>
              </a:rPr>
              <a:t>Rentang antarprovinsi lebar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806440"/>
            <a:ext cx="58704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03C"/>
                </a:solidFill>
                <a:latin typeface="Calibri"/>
              </a:rPr>
              <a:t>Bali 61,02% vs Aceh 25,01% pada 2025 — selisih 36 poin menunjukkan pasokan kamar belum sejalan dengan permintaan di banyak provinsi.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605332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303C"/>
                </a:solidFill>
                <a:latin typeface="Calibri"/>
              </a:rPr>
              <a:t>RLM: tamu asing 2,65 malam vs tamu Indonesia 1,46 malam (Des 2025).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B41A"/>
                </a:solidFill>
                <a:latin typeface="Calibri"/>
              </a:rPr>
              <a:t>TEMUAN 6 • WISATAWAN NUSANTARA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1,20 Miliar Perjalanan Domestik, Dua-pertiga di Jawa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4B41A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8A97A5"/>
                </a:solidFill>
                <a:latin typeface="Calibri"/>
              </a:rPr>
              <a:t>Pariwisata Indonesia 2026 • Sumber data: BPS (BRS &amp; Statistik Kunjungan Wisman)</a:t>
            </a:r>
          </a:p>
        </p:txBody>
      </p:sp>
      <p:pic>
        <p:nvPicPr>
          <p:cNvPr id="8" name="Picture 7" descr="12_wisnus_tujuan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172200" cy="3379935"/>
          </a:xfrm>
          <a:prstGeom prst="rect">
            <a:avLst/>
          </a:prstGeom>
        </p:spPr>
      </p:pic>
      <p:pic>
        <p:nvPicPr>
          <p:cNvPr id="9" name="Picture 8" descr="13_wisnus_vs_wis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88720"/>
            <a:ext cx="4846320" cy="238891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5417820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5349240"/>
            <a:ext cx="10945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3C5D"/>
                </a:solidFill>
                <a:latin typeface="Calibri"/>
              </a:rPr>
              <a:t>Tumbuh 17,55% dalam setahun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623559"/>
            <a:ext cx="10945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03C"/>
                </a:solidFill>
                <a:latin typeface="Calibri"/>
              </a:rPr>
              <a:t>Dari 1,02 miliar (2024) menjadi 1,20 miliar perjalanan (2025). Jawa Timur (217,2 jt) dan Jawa Barat (211,8 jt) jadi tujuan teratas.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204203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6135623"/>
            <a:ext cx="10945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B3C5D"/>
                </a:solidFill>
                <a:latin typeface="Calibri"/>
              </a:rPr>
              <a:t>Bali hanya 2,2% dari wisnus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6409943"/>
            <a:ext cx="1094536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303C"/>
                </a:solidFill>
                <a:latin typeface="Calibri"/>
              </a:rPr>
              <a:t>Meski ikonik untuk wisman, Bali mencatat 26,6 juta perjalanan wisnus — kalah jauh dari provinsi-provinsi Jawa yang padat penduduk.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B41A"/>
                </a:solidFill>
                <a:latin typeface="Calibri"/>
              </a:rPr>
              <a:t>DASHBOARD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Kit Siap Rakit: Star Schema, 12 Measure DAX, 4 Halaman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4B41A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8A97A5"/>
                </a:solidFill>
                <a:latin typeface="Calibri"/>
              </a:rPr>
              <a:t>Pariwisata Indonesia 2026 • Sumber data: BPS (BRS &amp; Statistik Kunjungan Wisman)</a:t>
            </a:r>
          </a:p>
        </p:txBody>
      </p:sp>
      <p:pic>
        <p:nvPicPr>
          <p:cNvPr id="8" name="Picture 7" descr="dashboard_preview_halama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406640" cy="41662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75320" y="1485900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1352" y="1417320"/>
            <a:ext cx="3264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3C5D"/>
                </a:solidFill>
                <a:latin typeface="Calibri"/>
              </a:rPr>
              <a:t>9 tabel star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1352" y="1691640"/>
            <a:ext cx="326440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03C"/>
                </a:solidFill>
                <a:latin typeface="Calibri"/>
              </a:rPr>
              <a:t>Fact &amp; dim terpisah per grain: bulanan, tahunan, pintu, kebangsaan, TPK, RLM, wisnus.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272284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2203704"/>
            <a:ext cx="3264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3C5D"/>
                </a:solidFill>
                <a:latin typeface="Calibri"/>
              </a:rPr>
              <a:t>Measure terverifikasi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2478024"/>
            <a:ext cx="326440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03C"/>
                </a:solidFill>
                <a:latin typeface="Calibri"/>
              </a:rPr>
              <a:t>14 measure DAX bernama polos + tabel verifikasi angka (mis. pangsa Ngurah Rai 44,9%).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3058668"/>
            <a:ext cx="118872" cy="1188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2990088"/>
            <a:ext cx="32644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B3C5D"/>
                </a:solidFill>
                <a:latin typeface="Calibri"/>
              </a:rPr>
              <a:t>Paket PBIP menyertai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3264408"/>
            <a:ext cx="326440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303C"/>
                </a:solidFill>
                <a:latin typeface="Calibri"/>
              </a:rPr>
              <a:t>Tinggal buka, arahkan parameter FolderData, refresh, Save As .pbix.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074920"/>
            <a:ext cx="3520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8A97A5"/>
                </a:solidFill>
                <a:latin typeface="Calibri"/>
              </a:rPr>
              <a:t>Berkas: Pariwisata-Indonesia-2026.pbix</a:t>
            </a:r>
          </a:p>
          <a:p>
            <a:pPr algn="l"/>
            <a:r>
              <a:rPr sz="1150" b="0">
                <a:solidFill>
                  <a:srgbClr val="8A97A5"/>
                </a:solidFill>
                <a:latin typeface="Calibri"/>
              </a:rPr>
              <a:t>(folder powerbi/ pada repo)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B41A"/>
                </a:solidFill>
                <a:latin typeface="Calibri"/>
              </a:rPr>
              <a:t>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Pariwisata Indonesia Sudah di Ambang Pulih Penuh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B41A"/>
                </a:solidFill>
                <a:latin typeface="Calibri"/>
              </a:rPr>
              <a:t>1 • Pemulihan 95,5% dan masih naik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E9EFF3"/>
                </a:solidFill>
                <a:latin typeface="Calibri"/>
              </a:rPr>
              <a:t>Jan–Agu 2026 sudah 98,7% dari periode sama 2019 — dengan laju ini, 2026 berpeluang menutup di atas baseline prapandemi.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B41A"/>
                </a:solidFill>
                <a:latin typeface="Calibri"/>
              </a:rPr>
              <a:t>2 • Konsentrasi adalah risiko sekaligus kekuatan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93008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E9EFF3"/>
                </a:solidFill>
                <a:latin typeface="Calibri"/>
              </a:rPr>
              <a:t>Dua bandara menampung 62,8% wisman dan Bali sendirian 44,9%. Diversifikasi gerbang &amp; pasar (Tiongkok baru 38% pulih) adalah ruang tumbuh terbesar.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B41A"/>
                </a:solidFill>
                <a:latin typeface="Calibri"/>
              </a:rPr>
              <a:t>3 • Domestik adalah pasar sesungguhnya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44568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E9EFF3"/>
                </a:solidFill>
                <a:latin typeface="Calibri"/>
              </a:rPr>
              <a:t>1,20 miliar perjalanan wisnus (78× wisman) tumbuh 17,55%; TPK yang turun ke 49,30% menandakan pasokan kamar tumbuh lebih cepat dari permintaan.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349240"/>
            <a:ext cx="10881360" cy="27432"/>
          </a:xfrm>
          <a:prstGeom prst="rect">
            <a:avLst/>
          </a:prstGeom>
          <a:solidFill>
            <a:srgbClr val="F4B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9EFF3"/>
                </a:solidFill>
                <a:latin typeface="Calibri"/>
              </a:rPr>
              <a:t>Data: BPS — BRS Perkembangan Pariwisata (Des 2024 s.d. Agu 2026) &amp; Statistik Kunjungan Wisman 2023 • Rincian: data/SOURCES.md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BAGHIZ ASSHIDDIQIE ARASYA — Portofolio Analisis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